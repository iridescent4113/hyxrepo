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启动会要把AI加代谢管理的长期愿景，转成各岗位可以执行的首期工作。项目在中国大陆开展，有医疗机构参与，目前从零起步。我们计划从二〇二六年十月十九日启动，在二〇二七年一月十日前启动受控试点，前提是团队、真实CGM接入和适用准入已经落实。首期共同目标是跑通连续血糖采集、画像解释、医生复核、行为建议和执行反馈，而不是把每一项远期能力同时开放。今天的任务分配围绕这个闭环展开，来源是已归档的软件方案零点二版与二十项工作分解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统一项目状态：实际产品开发进度是百分之零。方案文件已经产出，但没有因此完成接入、训练、产品开发或临床验证。我们已经确认中国大陆、医疗机构参与和约三个月内试点的方向，训练数据预计近期取得。现在必须落实四项资源：合作科室和具名临床负责人、技术团队与预算、CGM厂商及接入方式、训练数据字典和用途许可。前两周落实资源，前四周验证样本与授权。七到九名全职技术及产品人员是资源建议，临床和合规支持另行配置；若投入达不到这个条件，要调整范围或时间，不能继续把排期当成承诺。会上所有岗位最终都需要对应到具体姓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期必做的是一家CGM的数据接入、用户资料、曲线与数据质量、基础画像、医生审核、建议投递、反馈、异常与审计。这些能力形成可运行闭环。自有训练模型、专业智能体和个性化排序可以并行研究，但先离线或影子运行，达到冻结门槛并获批后再开放。更多穿戴数据、睡眠活动、检验和多病程随访放在后续，而接口在本期预留。临床负责人确认入组人群，优先选择合适的成年人，复杂与特殊人群需要专门路径。仅有CGM不能单独完成疾病诊断，产品不调整药物，也不承诺急救保障。这里的边界会直接影响风险问卷、建议规则和试点方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个业务模块沿同一条可追溯链路协作。CGM、资料和授权先进入适配与质量层，统一时间和单位，并处理去重与补拉；数据再进入特征画像与自有模型或审定规则，形成证据包。智能体根据证据产生候选建议，经过合并、独立安全规则和医生审核后，患者才能选择并反馈。未来穿戴设备接入适配层，患者反馈回到画像，临床规则独立检查候选动作。授权、权限、证据、版本和审计贯穿全链路。首期采用模块化后端和独立模型服务，患者端与医生Web工作台分别承担使用和审核。最终端侧形态仍需依据厂商云端接口或SDK能力决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工作包权重为百分之二十。后端负责D零一，计划十一月二十九日前交付授权、绑定和原始落库，以真实合法数据链路能够运行作为证据。后端与数据角色共同承担D零二，计划十二月二十日前让标准化、去重、补拉、时间单位和恢复场景通过。客户端与后端完成D零三，同样在十二月二十日前验收曲线、查询、同步监控和追溯。统一观测保留来源、设备、事件标识、原始及标准单位、采样和接收时间、质量、授权与版本。不得无提示填补缺失曲线。新数据源通过适配器接入。厂商接口、SDK或合法导入方式是前置依赖；历史导入可支持离线研究，但不能替代实时产品的真实接入验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决策工作包也占百分之二十。能力顺序是确定性统计、特征画像、自有任务模型、受控语言解释，所有数字由上游计算，解释使用证据和适用条件。算法与临床完成M零一，计划十二月二十日前验收统计、规则与画像口径。算法完成M零二，计划十二月二十七日前形成首轮训练、隔离测试和独立评估报告；前提是训练数据许可、标签和代表性合格。算法与后端在同一天完成M零三，交付解释服务、版本、影子运行与降级。训练测试按用户隔离并保留时间外验证，避免把同一人的片段分到训练与测试中产生虚高表现。未达门槛的模型保持离线或影子模式，不直接改变患者干预；当前没有真实模型性能可报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多智能体是专业分工，不是同时给患者发送互相矛盾的答案。数据解释、饮食、活动、作息与依从性智能体先产生候选，统一去重、排序和处理禁忌，再经过独立硬规则与医生审核，输出一套一致建议。每天一到三项只是可配置的初始频率建议。冲突不能解决时，进入人工复核或拒绝生成。候选需要携带证据、禁忌和有效期；缺失餐食和睡眠背景时，不能做确定归因。智能体没有修改药物、写原始数据、自动训练或绕过审核的权限。模型能力与智能体候选质量都需经过验证；安全检查也不能仅靠另一个语言模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患者端的路径是授权、资料和风险问卷、曲线及画像、建议选择和反馈。基础资料之外，需要最小风险背景，缺失关键资料时进入限制模式。医生端从授权患者列表进入证据，批准、编辑或拒绝建议，并处理异常。个性化建议先审后发，草稿与过期内容不得投递，医生编辑后仍检查硬规则，所有状态留痕。用户与干预工作包占百分之十五。U零一由客户端负责，计划十二月二十日前通过用户路径验收；U零二由后端、客户端和临床协作，十二月二十七日前完成审核与异常演练；U零三由算法和临床完成智能体、安全与冲突规则的影子链路验证，截止同为十二月二十七日。这些是角色和日期建议，会上需要认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PMT负责范围、预算和DCP继续或暂停的投资决策；PDT负责人负责端到端交付、依赖、周报和集成。产品设计承担需求与体验，技术数据承担架构、接入、正确性和运行，算法负责标签、训练、评估和版本，临床负责人群、禁忌、建议和复核，QA合规负责验证、安全和准入，渠道运营负责厂商合作、招募和支持。要任命具名负责人，协作不能替代责任归属。七到九名全职技术产品人员是建议，临床复核与合规另配。审核工作量应按患者数、每日建议数和单次审核时间估算，另加异常工单，不能仅指定一位名义顾问。实际服务时段和异常响应安排也必须明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表用于会上具名，不是已经批准的责任记录。PRD与首期范围由产品主责、临床技术协作，十一月十五日前提交IPMT验收；CGM正确链路由技术主责、数据客户端协作，十二月二十日前由QA验收。画像与模型评估由算法主责、临床后端协作，医生审核闭环由技术主责、客户端临床协作，两项均计划十二月二十七日前交临床与QA验收。试点准入由临床主责、合规运营协作，实际批准权属于机构授权方；首批启动由运营主责、PDT临床协作，二〇二七年一月十日前完成启动验收。每项指定一个主责，开发者不能自行代替独立验收或机构审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个计划按十二周启动试点、十四周首轮复盘组织。第一到二周是十月十九日至十一月一日，DCP一检查概念、资源和立项，计划累计百分之十。第三到四周在十一月十五日前冻结方案，通过DCP二，目标百分之二十五。第五到八周在十二月十三日前完成主要开发集成和技术评审，目标百分之六十。第九到十周在十二月二十七日前完成验证与准入，由DCP三批准入组，目标百分之八十。第十一到十二周跨年启动首批试点，到二〇二七年一月十日达到计划百分之九十。第十三到十四周到一月二十四日复盘，经DCP四决定扩大、调整或停止，首期目标百分之百。所有百分比都是计划曲线，等宽区域只表示阶段顺序。时间到不自动过关，首期完成也不等于公开上市或疗效证明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开发阶段每周交付一个可演示增量。第五周十一月十六日至二十二日完成身份、授权、绑定和数据落库，演示真实数据链路。第六周十一月二十三日至二十九日完成曲线、质量、统计、风险、画像和最小医生工作台，演示数据可查可解释。第七周十一月三十日至十二月六日完成证据、审核、投递和反馈，演示先审后发的建议闭环，并做离线评估。第八周十二月七日至十三日完成集成、审计、降级、恢复及影子模型和智能体。数据合格后算法训练即可启动，临床规则与机构准入从第一周并行推进。每周演示不是最终验收，后续整改和验证可持续至十二月二十七日，不等待整个模型阶段结束才做端侧和审核工作台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患者入组前必须同时通过四类门槛。数据方面，真实授权接入、时间单位、去重和恢复要正确，可获取事件正确落库率百分之九十九是拟议指标，分母应是厂商可回溯的事件。模型与解释要有独立评估、证据版本和失效降级，高风险数字及动作确定性校验，未达门槛不进入患者流程。技术方面验证跨用户权限、关键安全场景和恢复演练，关键缺陷为零；标准化处理九十五分位不超过六十秒仅指平台接收后的处理，厂商延迟另列。临床方面落实适用审批、医生复核容量、异常责任、服务时段和响应要求。医疗机构参与不自动替代监管判断。这些指标在DCP二冻结，关键缺陷或适用准入未关闭时暂停入组；目前没有实际验收结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际完成度按各交付物权重乘证据成熟度后求和。未启动为零，方案评审为四分之一，模块验收为二分之一，集成通过为四分之三，目标场景验收为一；纯文档使用它的专属验收状态。二十项工作分解权重合计百分之百，需求与立项占十，架构治理与验证计划占十五，数据采集占二十，决策画像占二十，用户干预占十五，质量安全与运行验证占十五，试点运营复盘占五。每周更新负责人、验收证据、阻塞和下一步，计划曲线与实际状态分开记录。当前产品基线为百分之零，本次演示文稿的完成不能自动变成产品进度。百分之百只代表首期试点范围完成，不是整个全病程愿景已经实现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要防止软件写完却无法进入真实试点。CGM接口或授权缺失，由技术和渠道优先处理，会阻塞DCP一或二；模拟数据不能证明真实接入可用。训练数据不足或许可不明由算法和数据处理，审定统计规则可以先行，训练模型保持研究或影子状态。用药和病史等背景缺失，由临床产品设置限制模式和人工复核。机构与适用准入未完成时，临床合规暂停患者入组，软件测试不能替代相应批准。团队或医生复核容量不足由PDT协调，推迟高级能力或重排时间。所有安全事件及时升级PDT和临床负责人，不等例行周会。依赖的关闭证据应进入任务表，而不是只写口头承诺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两周要认领六项行动。PDT完成C零二，明确团队预算、机构、具名负责人和投入承诺；产品临床完成C零一，形成首期人群、预期用途和范围草案；数据技术完成C零三，明确CGM路径、接口许可和训练数据交付约定。产品设计形成患者及医生主路径原型，临床产品形成风险问卷、建议边界和限制模式草案，技术数据交付初版字段契约和沙箱回放。这些启动交付均以十一月一日为拟议截止，支持DCP一判断是否具备立项条件。原型、风险规则和契约此时是草案，PRD与验收方案在十一月十五日的DCP二正式冻结，不把早期探索错误地当成最终批准。会上请对应具体负责人和交付位置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以十到二十名合适成年人验证真实流程，授权、准入、服务和复核容量满足后再考虑扩大到四十至八十人。人数是运营容量假设，不是证明疗效的研究样本量。首批约四周观察，后入组用户的随访可能更晚结束。记录接入、安全、理解、建议执行反馈及模型和人工复核成本，健康变化仅作探索性记录，短期前后变化不证明干预疗效。周会关注交付证据、偏差、阻塞和下一步，每两周演示一次真实集成增量，DCP形成正式决定和条件；异常及时升级。Q零三、O零一和O零二承接试点运行、启动和复盘。如果要验证临床有效性，需要另外设计研究、终点和样本量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会议结束前，我们要把方案转成执行。先任命PDT、技术和临床负责人，再落实团队预算、合作机构、CGM接口和训练数据四条关键路径。每一条都要有具名责任人、交付日期和可核验依据，分别对应投入、机构准入、合法接口、数据字典与许可。会议输出是具名岗位表、首期范围、二十项工作分解认领和风险待决清单。本周开始推进，十一月一日检查DCP一，十一月十五日检查DCP二，二〇二七年一月十日前启动试点仍是条件性目标。方案与任务表在GitHub归档，后续用证据维护进度，实际产品开发从百分之零起。这就是团队下一步共同执行的基线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i-metabolic-kickoff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i-metabolic-kickoff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14350" y="597218"/>
            <a:ext cx="4835652" cy="3464433"/>
            <a:chOff x="514350" y="597218"/>
            <a:chExt cx="4835652" cy="3464433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97218"/>
              <a:ext cx="3527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PROJECT KICKOFF / 内部启动与工作分配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33400" y="1219200"/>
              <a:ext cx="6096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4350" y="1661160"/>
              <a:ext cx="370767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AI＋代谢管理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2732" y="249745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从连续血糖数据，到可执行的管理闭环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3282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中国大陆 · 医疗机构参与 · 从零起步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6542" y="37976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首期目标：启动受控试点，建立数据与医生协作能力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001000" y="1123950"/>
            <a:ext cx="3657600" cy="3314700"/>
            <a:chOff x="8001000" y="1123950"/>
            <a:chExt cx="3657600" cy="3314700"/>
          </a:xfrm>
        </p:grpSpPr>
        <p:sp>
          <p:nvSpPr>
            <p:cNvPr id="9" name="Rectangle 9"/>
            <p:cNvSpPr/>
            <p:nvPr/>
          </p:nvSpPr>
          <p:spPr>
            <a:xfrm>
              <a:off x="8001000" y="1123950"/>
              <a:ext cx="3657600" cy="3314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0" y="1495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条件性计划目标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86750" y="1996440"/>
              <a:ext cx="190817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6656" y="3091815"/>
              <a:ext cx="2150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2026-10-19 拟启动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6656" y="3520440"/>
              <a:ext cx="26353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2027-01-10 前启动试点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942" y="39976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团队、接入与准入落实后执行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4256" y="4953000"/>
            <a:ext cx="11134344" cy="729234"/>
            <a:chOff x="524256" y="4953000"/>
            <a:chExt cx="11134344" cy="729234"/>
          </a:xfrm>
        </p:grpSpPr>
        <p:sp>
          <p:nvSpPr>
            <p:cNvPr id="16" name="Line 16"/>
            <p:cNvSpPr/>
            <p:nvPr/>
          </p:nvSpPr>
          <p:spPr>
            <a:xfrm>
              <a:off x="533400" y="4953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4256" y="5330190"/>
              <a:ext cx="10532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CGM采集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1606" y="53301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15006" y="5330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画像解释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2356" y="53301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5756" y="5330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医生复核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3106" y="53301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6506" y="5330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行为建议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53856" y="53301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87256" y="5330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执行反馈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528066" y="6392228"/>
              <a:ext cx="2628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AI＋代谢管理 / 方案v0.2 / 2026-10-13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474562" cy="947927"/>
            <a:chOff x="518922" y="463868"/>
            <a:chExt cx="647456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目标与范围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当前从零起步，先落实四项关键资源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771650"/>
            <a:ext cx="3467100" cy="4000500"/>
            <a:chOff x="533400" y="1771650"/>
            <a:chExt cx="3467100" cy="4000500"/>
          </a:xfrm>
        </p:grpSpPr>
        <p:sp>
          <p:nvSpPr>
            <p:cNvPr id="5" name="Rectangle 5"/>
            <p:cNvSpPr/>
            <p:nvPr/>
          </p:nvSpPr>
          <p:spPr>
            <a:xfrm>
              <a:off x="533400" y="1771650"/>
              <a:ext cx="3467100" cy="400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0580" y="21717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实际产品开发进度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9150" y="2701290"/>
              <a:ext cx="119576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38442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方案已产出，开发尚未开始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4407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未来百分比均为计划目标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5073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岗位负责人：待具名指派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08932" y="1849755"/>
            <a:ext cx="4938827" cy="1184529"/>
            <a:chOff x="4408932" y="1849755"/>
            <a:chExt cx="4938827" cy="1184529"/>
          </a:xfrm>
        </p:grpSpPr>
        <p:sp>
          <p:nvSpPr>
            <p:cNvPr id="12" name="TextBox 12"/>
            <p:cNvSpPr txBox="1"/>
            <p:nvPr/>
          </p:nvSpPr>
          <p:spPr>
            <a:xfrm>
              <a:off x="4408932" y="18497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已确认的项目条件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10456" y="2320290"/>
              <a:ext cx="49373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中国大陆 · 医疗机构参与 · 近期取得训练数据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10456" y="26822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目标：约三个月内启动受控试点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08932" y="3162300"/>
            <a:ext cx="7249668" cy="2013775"/>
            <a:chOff x="4408932" y="3162300"/>
            <a:chExt cx="7249668" cy="2013775"/>
          </a:xfrm>
        </p:grpSpPr>
        <p:sp>
          <p:nvSpPr>
            <p:cNvPr id="16" name="Line 16"/>
            <p:cNvSpPr/>
            <p:nvPr/>
          </p:nvSpPr>
          <p:spPr>
            <a:xfrm>
              <a:off x="4419600" y="31623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08932" y="339280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四项资源，必须能核验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10456" y="3844290"/>
              <a:ext cx="27806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合作科室与临床负责人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53806" y="38442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技术团队与预算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0456" y="4311015"/>
              <a:ext cx="2642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CGM厂商与接入方式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53806" y="4311015"/>
              <a:ext cx="2538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数据字典与用途许可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12742" y="491204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前两周落实资源；前四周验证样本与授权。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411980" y="5543550"/>
            <a:ext cx="4700016" cy="501587"/>
            <a:chOff x="4411980" y="5543550"/>
            <a:chExt cx="4700016" cy="501587"/>
          </a:xfrm>
        </p:grpSpPr>
        <p:sp>
          <p:nvSpPr>
            <p:cNvPr id="24" name="TextBox 24"/>
            <p:cNvSpPr txBox="1"/>
            <p:nvPr/>
          </p:nvSpPr>
          <p:spPr>
            <a:xfrm>
              <a:off x="4411980" y="5543550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建议：7–9名全职技术/产品人员，临床与合规另配。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14266" y="583977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资源未落实时，本排期仅为条件性基线。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528066" y="6392228"/>
              <a:ext cx="33112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 / 当前状态与规划假设分别记录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071711" cy="947927"/>
            <a:chOff x="518922" y="463868"/>
            <a:chExt cx="6071711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目标与范围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0717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首期聚焦血糖闭环，能力分层开放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752600"/>
            <a:ext cx="3505200" cy="3057525"/>
            <a:chOff x="533400" y="1752600"/>
            <a:chExt cx="3505200" cy="3057525"/>
          </a:xfrm>
        </p:grpSpPr>
        <p:sp>
          <p:nvSpPr>
            <p:cNvPr id="5" name="Rectangle 5"/>
            <p:cNvSpPr/>
            <p:nvPr/>
          </p:nvSpPr>
          <p:spPr>
            <a:xfrm>
              <a:off x="533400" y="1752600"/>
              <a:ext cx="3505200" cy="3057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752600"/>
              <a:ext cx="35052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203073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首期必须交付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2606040"/>
              <a:ext cx="22841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一家CGM与用户资料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856" y="30156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曲线、数据质量、基础画像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856" y="3425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医生审核与建议投递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38347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执行反馈、异常与审计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439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交付一个能运行的管理闭环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43400" y="1752600"/>
            <a:ext cx="3505200" cy="3057525"/>
            <a:chOff x="4343400" y="1752600"/>
            <a:chExt cx="3505200" cy="3057525"/>
          </a:xfrm>
        </p:grpSpPr>
        <p:sp>
          <p:nvSpPr>
            <p:cNvPr id="14" name="Rectangle 14"/>
            <p:cNvSpPr/>
            <p:nvPr/>
          </p:nvSpPr>
          <p:spPr>
            <a:xfrm>
              <a:off x="4343400" y="1752600"/>
              <a:ext cx="3505200" cy="3057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43400" y="1752600"/>
              <a:ext cx="35052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61332" y="2030730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验证后逐步开放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2856" y="2606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自有训练模型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30156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专业智能体协作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2856" y="34251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个性化建议排序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5142" y="4064318"/>
              <a:ext cx="2242566" cy="568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先离线 / 影子运行，</a:t>
              </a:r>
              <a:br/>
              <a:r>
                <a:rPr lang="zh-CN" sz="135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达到冻结门槛并获批后开放。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752600"/>
            <a:ext cx="3505200" cy="3057525"/>
            <a:chOff x="8153400" y="1752600"/>
            <a:chExt cx="3505200" cy="3057525"/>
          </a:xfrm>
        </p:grpSpPr>
        <p:sp>
          <p:nvSpPr>
            <p:cNvPr id="22" name="Rectangle 22"/>
            <p:cNvSpPr/>
            <p:nvPr/>
          </p:nvSpPr>
          <p:spPr>
            <a:xfrm>
              <a:off x="8153400" y="1752600"/>
              <a:ext cx="3505200" cy="3057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53400" y="1752600"/>
              <a:ext cx="35052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1332" y="203073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后续扩展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2856" y="26060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更多设备与穿戴数据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2856" y="30156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睡眠、活动与检验指标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2856" y="34251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多病程与临床随访路径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5142" y="43976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数据与模型接口现在预留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5780" y="5200650"/>
            <a:ext cx="6800088" cy="702945"/>
            <a:chOff x="525780" y="5200650"/>
            <a:chExt cx="6800088" cy="702945"/>
          </a:xfrm>
        </p:grpSpPr>
        <p:sp>
          <p:nvSpPr>
            <p:cNvPr id="30" name="TextBox 30"/>
            <p:cNvSpPr txBox="1"/>
            <p:nvPr/>
          </p:nvSpPr>
          <p:spPr>
            <a:xfrm>
              <a:off x="525780" y="5200650"/>
              <a:ext cx="6800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人群由临床负责人确认：优先合适成年人；复杂与特殊人群走专门路径。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5780" y="5610225"/>
              <a:ext cx="4527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CGM不单独诊断 · 不调整药物 · 不承诺急救保障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528066" y="6392228"/>
              <a:ext cx="28913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 / 首期范围待DCP2冻结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474562" cy="947927"/>
            <a:chOff x="518922" y="463868"/>
            <a:chExt cx="647456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软件与工作流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三个业务模块，共用一个可追溯闭环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6542" y="1695450"/>
            <a:ext cx="11132058" cy="3181350"/>
            <a:chOff x="526542" y="1695450"/>
            <a:chExt cx="11132058" cy="3181350"/>
          </a:xfrm>
        </p:grpSpPr>
        <p:sp>
          <p:nvSpPr>
            <p:cNvPr id="5" name="Line 5"/>
            <p:cNvSpPr/>
            <p:nvPr/>
          </p:nvSpPr>
          <p:spPr>
            <a:xfrm>
              <a:off x="4038600" y="2314575"/>
              <a:ext cx="2571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6" name="Line 6"/>
            <p:cNvSpPr/>
            <p:nvPr/>
          </p:nvSpPr>
          <p:spPr>
            <a:xfrm>
              <a:off x="7848600" y="2314575"/>
              <a:ext cx="2571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9906000" y="2914650"/>
              <a:ext cx="1" cy="723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 flipH="1">
              <a:off x="7896225" y="4257675"/>
              <a:ext cx="2571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4086225" y="4257675"/>
              <a:ext cx="2571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1695450"/>
              <a:ext cx="3505200" cy="1219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343400" y="1695450"/>
              <a:ext cx="3505200" cy="1219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53400" y="1695450"/>
              <a:ext cx="3505200" cy="121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142" y="1940242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数据采集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2856" y="2291715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CGM ＋ 资料 ＋ 授权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5142" y="19402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适配与质量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2856" y="2291715"/>
              <a:ext cx="2931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时间 / 单位 / 去重 / 补拉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5142" y="1940242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/ 决策模型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72856" y="2291715"/>
              <a:ext cx="27534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特征画像 ＋ 模型 / 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57600"/>
              <a:ext cx="3505200" cy="1219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43400" y="3657600"/>
              <a:ext cx="3505200" cy="121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3657600"/>
              <a:ext cx="3505200" cy="1219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142" y="39023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患者端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856" y="4253865"/>
              <a:ext cx="24608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建议选择 ＋ 执行反馈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5142" y="39023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统一安全与医生工作台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62856" y="4253865"/>
              <a:ext cx="28933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 / 硬规则 / 医生审核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5142" y="3902392"/>
              <a:ext cx="7860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干预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2856" y="4253865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证据包 → 智能体候选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6542" y="3207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新穿戴设备接入适配层；患者反馈回到画像；临床规则独立检查候选动作。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4256" y="5200650"/>
            <a:ext cx="11134344" cy="798195"/>
            <a:chOff x="524256" y="5200650"/>
            <a:chExt cx="11134344" cy="798195"/>
          </a:xfrm>
        </p:grpSpPr>
        <p:sp>
          <p:nvSpPr>
            <p:cNvPr id="30" name="Line 30"/>
            <p:cNvSpPr/>
            <p:nvPr/>
          </p:nvSpPr>
          <p:spPr>
            <a:xfrm>
              <a:off x="533400" y="5200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4256" y="533019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授权、权限、证据、版本与审计贯穿全链路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5780" y="5705475"/>
              <a:ext cx="60639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模块化后端 ＋ 独立模型服务 · 患者App/小程序 ＋ 医生Web工作台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528066" y="6392228"/>
              <a:ext cx="28913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 / 架构草案，DCP2冻结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474562" cy="947927"/>
            <a:chOff x="518922" y="463868"/>
            <a:chExt cx="647456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260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数据采集 · 工作包权重20%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先交付真实接入，再验证数据正确性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743075"/>
            <a:ext cx="3657600" cy="4048125"/>
            <a:chOff x="533400" y="1743075"/>
            <a:chExt cx="3657600" cy="4048125"/>
          </a:xfrm>
        </p:grpSpPr>
        <p:sp>
          <p:nvSpPr>
            <p:cNvPr id="5" name="Rectangle 5"/>
            <p:cNvSpPr/>
            <p:nvPr/>
          </p:nvSpPr>
          <p:spPr>
            <a:xfrm>
              <a:off x="533400" y="1743075"/>
              <a:ext cx="3657600" cy="4048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1332" y="20212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统一观测契约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2606040"/>
              <a:ext cx="22841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来源、设备、事件ID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3025140"/>
              <a:ext cx="23324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数值与原始/标准单位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856" y="34442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采样时间与接收时间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856" y="38633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质量标记、授权、版本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44196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4380" y="4638675"/>
              <a:ext cx="2110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新设备通过适配器加入，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无需改写下游业务模型。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53787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不无提示插值；保留原始溯源。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72000" y="1743075"/>
            <a:ext cx="7086600" cy="3333750"/>
            <a:chOff x="4572000" y="1743075"/>
            <a:chExt cx="7086600" cy="3333750"/>
          </a:xfrm>
        </p:grpSpPr>
        <p:sp>
          <p:nvSpPr>
            <p:cNvPr id="15" name="Rectangle 15"/>
            <p:cNvSpPr/>
            <p:nvPr/>
          </p:nvSpPr>
          <p:spPr>
            <a:xfrm>
              <a:off x="4572000" y="1743075"/>
              <a:ext cx="70866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54880" y="1885950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 / 主责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02755" y="1885950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交付与验收证据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28960" y="1885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计划完成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4880" y="2428875"/>
              <a:ext cx="1090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D01 · 后端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02755" y="24288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授权、绑定、原始落库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81372" y="24288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11-29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3517" y="2787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真实合法数据链路可运行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572000" y="314325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54880" y="3371850"/>
              <a:ext cx="1762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D02 · 后端＋数据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2755" y="33718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标准化、去重、补拉、质量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81372" y="33718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12-20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3517" y="373094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时间、单位、幂等与恢复场景通过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572000" y="4086225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54880" y="4314825"/>
              <a:ext cx="1762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D03 · 端侧＋后端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02755" y="4314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曲线、查询、同步监控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81372" y="431482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12-20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03517" y="46739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可查、可追溯、异常同步可发现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572000" y="50673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564380" y="5391150"/>
            <a:ext cx="4865446" cy="585025"/>
            <a:chOff x="4564380" y="5391150"/>
            <a:chExt cx="4865446" cy="585025"/>
          </a:xfrm>
        </p:grpSpPr>
        <p:sp>
          <p:nvSpPr>
            <p:cNvPr id="35" name="TextBox 35"/>
            <p:cNvSpPr txBox="1"/>
            <p:nvPr/>
          </p:nvSpPr>
          <p:spPr>
            <a:xfrm>
              <a:off x="4564380" y="5391150"/>
              <a:ext cx="48654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前置依赖：厂商接口、SDK或合法历史导入方式。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5142" y="571214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历史数据可用于离线研究；实时产品仍需真实接入验收。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28066" y="6392228"/>
              <a:ext cx="37668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来源：WBS D01–D03 / 日期与权重为计划，责任人待指派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474562" cy="947927"/>
            <a:chOff x="518922" y="463868"/>
            <a:chExt cx="647456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260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决策模型 · 工作包权重20%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先建立可解释基线，再验证自有模型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724025"/>
            <a:ext cx="11125200" cy="981075"/>
            <a:chOff x="533400" y="1724025"/>
            <a:chExt cx="11125200" cy="981075"/>
          </a:xfrm>
        </p:grpSpPr>
        <p:sp>
          <p:nvSpPr>
            <p:cNvPr id="5" name="Rectangle 5"/>
            <p:cNvSpPr/>
            <p:nvPr/>
          </p:nvSpPr>
          <p:spPr>
            <a:xfrm>
              <a:off x="533400" y="1724025"/>
              <a:ext cx="11125200" cy="9810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2856" y="19297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确定性统计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29306" y="19297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62706" y="19297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特征与画像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39156" y="19297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2556" y="19297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自有任务模型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77606" y="19297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11006" y="19297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受控语言解释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235934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数字由上游计算；模型与解释共同使用证据、质量状态和适用条件。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5780" y="3162300"/>
            <a:ext cx="11140440" cy="1817370"/>
            <a:chOff x="525780" y="3162300"/>
            <a:chExt cx="11140440" cy="1817370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31623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6880" y="31623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主责角色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5780" y="31623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交付与验收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43260" y="31623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计划完成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" y="34766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3657600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6880" y="36576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算法＋临床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35780" y="3657600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统计/规则/画像；口径、证据与质量限制可追溯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95672" y="36576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12-20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33400" y="39909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5780" y="4171950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06880" y="4171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35780" y="41719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首轮训练、隔离测试及独立评估报告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95672" y="41719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12-27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33400" y="45053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5780" y="4686300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06880" y="46863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算法＋后端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35780" y="46863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解释服务、版本管理、影子运行与降级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95672" y="46863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12-27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5780" y="5372100"/>
            <a:ext cx="6800088" cy="664845"/>
            <a:chOff x="525780" y="5372100"/>
            <a:chExt cx="6800088" cy="664845"/>
          </a:xfrm>
        </p:grpSpPr>
        <p:sp>
          <p:nvSpPr>
            <p:cNvPr id="35" name="TextBox 35"/>
            <p:cNvSpPr txBox="1"/>
            <p:nvPr/>
          </p:nvSpPr>
          <p:spPr>
            <a:xfrm>
              <a:off x="525780" y="5372100"/>
              <a:ext cx="6800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训练前：核查用途许可、标签与代表性；按用户隔离，保留时间外测试。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5780" y="574357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未达门槛保持离线 / 影子模式，不直接改变患者干预。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28066" y="6392228"/>
              <a:ext cx="3677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来源：WBS M01–M03 / 日期为计划，模型性能尚未产生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877412" cy="947927"/>
            <a:chOff x="518922" y="463868"/>
            <a:chExt cx="687741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多智能体干预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多智能体协作，最终输出一套一致建议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809750"/>
            <a:ext cx="2971800" cy="2933700"/>
            <a:chOff x="533400" y="1809750"/>
            <a:chExt cx="2971800" cy="2933700"/>
          </a:xfrm>
        </p:grpSpPr>
        <p:sp>
          <p:nvSpPr>
            <p:cNvPr id="5" name="Rectangle 5"/>
            <p:cNvSpPr/>
            <p:nvPr/>
          </p:nvSpPr>
          <p:spPr>
            <a:xfrm>
              <a:off x="533400" y="1809750"/>
              <a:ext cx="29718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2609850"/>
              <a:ext cx="29718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3409950"/>
              <a:ext cx="29718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4210050"/>
              <a:ext cx="29718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856" y="19583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数据解释智能体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856" y="2758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饮食智能体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3558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活动智能体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856" y="43586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作息与依从性智能体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771900" y="2076450"/>
            <a:ext cx="7886700" cy="2699575"/>
            <a:chOff x="3771900" y="2076450"/>
            <a:chExt cx="7886700" cy="2699575"/>
          </a:xfrm>
        </p:grpSpPr>
        <p:sp>
          <p:nvSpPr>
            <p:cNvPr id="14" name="Line 14"/>
            <p:cNvSpPr/>
            <p:nvPr/>
          </p:nvSpPr>
          <p:spPr>
            <a:xfrm>
              <a:off x="3771900" y="2076450"/>
              <a:ext cx="638175" cy="12001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3771900" y="2876550"/>
              <a:ext cx="638175" cy="4000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 flipV="1">
              <a:off x="3771900" y="3276600"/>
              <a:ext cx="638175" cy="4000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Line 17"/>
            <p:cNvSpPr/>
            <p:nvPr/>
          </p:nvSpPr>
          <p:spPr>
            <a:xfrm flipV="1">
              <a:off x="3771900" y="3276600"/>
              <a:ext cx="638175" cy="12001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495800" y="2676525"/>
              <a:ext cx="1981200" cy="1209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15256" y="29108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合并与排序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17542" y="33785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去重、禁忌、冲突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477000" y="3276600"/>
              <a:ext cx="3524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96100" y="2676525"/>
              <a:ext cx="1981200" cy="1209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15556" y="29108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规则＋医生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7842" y="33785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独立硬规则与审核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877300" y="3276600"/>
              <a:ext cx="3524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296400" y="2676525"/>
              <a:ext cx="2362200" cy="120967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515856" y="29108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一套用户建议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18142" y="3378518"/>
              <a:ext cx="1222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默认每天1–3项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88180" y="416242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冲突无法解决 → 人工复核或拒绝生成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88942" y="451199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每条候选携带证据、禁忌和有效期。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5780" y="5219700"/>
            <a:ext cx="11132820" cy="813625"/>
            <a:chOff x="525780" y="5219700"/>
            <a:chExt cx="11132820" cy="813625"/>
          </a:xfrm>
        </p:grpSpPr>
        <p:sp>
          <p:nvSpPr>
            <p:cNvPr id="32" name="Line 32"/>
            <p:cNvSpPr/>
            <p:nvPr/>
          </p:nvSpPr>
          <p:spPr>
            <a:xfrm>
              <a:off x="533400" y="5219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5780" y="5391150"/>
              <a:ext cx="5199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不修改药物 · 不写原始数据 · 不自动训练 · 不绕过审核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542" y="576929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缺失餐食或睡眠背景时不做确定归因；建议频率为可配置的拟议值。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528066" y="6392228"/>
              <a:ext cx="31698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 / 首期未验证能力仅影子运行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877412" cy="947927"/>
            <a:chOff x="518922" y="463868"/>
            <a:chExt cx="687741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3148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用户端与医生端 · 工作包权重15%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患者可理解，医生可审核，建议可追溯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714500"/>
            <a:ext cx="11125200" cy="1123950"/>
            <a:chOff x="533400" y="1714500"/>
            <a:chExt cx="11125200" cy="1123950"/>
          </a:xfrm>
        </p:grpSpPr>
        <p:sp>
          <p:nvSpPr>
            <p:cNvPr id="5" name="Rectangle 5"/>
            <p:cNvSpPr/>
            <p:nvPr/>
          </p:nvSpPr>
          <p:spPr>
            <a:xfrm>
              <a:off x="533400" y="1714500"/>
              <a:ext cx="111252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714500"/>
              <a:ext cx="1447800" cy="1123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1935480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患者端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142" y="2387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理解与执行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14956" y="1958340"/>
              <a:ext cx="63548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 → 资料与风险问卷 → 曲线/画像 → 建议选择 → 执行反馈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17242" y="240696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基础资料加最小风险问卷；关键背景不明时进入限制模式。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3057525"/>
            <a:ext cx="11125200" cy="1123950"/>
            <a:chOff x="533400" y="3057525"/>
            <a:chExt cx="11125200" cy="1123950"/>
          </a:xfrm>
        </p:grpSpPr>
        <p:sp>
          <p:nvSpPr>
            <p:cNvPr id="12" name="Rectangle 12"/>
            <p:cNvSpPr/>
            <p:nvPr/>
          </p:nvSpPr>
          <p:spPr>
            <a:xfrm>
              <a:off x="533400" y="3057525"/>
              <a:ext cx="111252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3057525"/>
              <a:ext cx="1447800" cy="1123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1332" y="327850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医生端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142" y="37309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审查与处置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14956" y="3301365"/>
              <a:ext cx="5967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授权患者列表 → 查看证据 → 批准/编辑/拒绝 → 异常处置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17242" y="3749992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个性化建议先审后发；草稿和过期内容不投递，修改后仍校验硬规则。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5780" y="4657725"/>
            <a:ext cx="9797148" cy="1080326"/>
            <a:chOff x="525780" y="4657725"/>
            <a:chExt cx="9797148" cy="1080326"/>
          </a:xfrm>
        </p:grpSpPr>
        <p:sp>
          <p:nvSpPr>
            <p:cNvPr id="19" name="TextBox 19"/>
            <p:cNvSpPr txBox="1"/>
            <p:nvPr/>
          </p:nvSpPr>
          <p:spPr>
            <a:xfrm>
              <a:off x="525780" y="4657725"/>
              <a:ext cx="1314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U01 / 客户端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35780" y="4657725"/>
              <a:ext cx="2434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U02 / 后端＋端侧＋临床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5780" y="4657725"/>
              <a:ext cx="1762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U03 / 算法＋临床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5780" y="50577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资料、曲线、建议与反馈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35780" y="50577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医生工作台、审核与异常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5780" y="50577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智能体与安全影子链路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6542" y="5474018"/>
              <a:ext cx="2176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计划12-20 / 用户路径验收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36542" y="5474018"/>
              <a:ext cx="2176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计划12-27 / 处置演练通过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6542" y="5474018"/>
              <a:ext cx="2176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计划12-27 / 冲突规则验证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528066" y="6392228"/>
              <a:ext cx="37668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来源：WBS U01–U03 / 审核、投递、确认、过期全程留痕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7541735" cy="947927"/>
            <a:chOff x="518922" y="463868"/>
            <a:chExt cx="7541735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2448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组织与责任 · 姓名待指派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754173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PDT统筹交付，技术与临床分别守住门槛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676400"/>
            <a:ext cx="11125200" cy="981075"/>
            <a:chOff x="533400" y="1676400"/>
            <a:chExt cx="11125200" cy="981075"/>
          </a:xfrm>
        </p:grpSpPr>
        <p:sp>
          <p:nvSpPr>
            <p:cNvPr id="5" name="Rectangle 5"/>
            <p:cNvSpPr/>
            <p:nvPr/>
          </p:nvSpPr>
          <p:spPr>
            <a:xfrm>
              <a:off x="533400" y="1676400"/>
              <a:ext cx="5334000" cy="9810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172200" y="1676400"/>
              <a:ext cx="5486400" cy="9810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1811655"/>
              <a:ext cx="23109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IPMT / 投资决策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2266950"/>
              <a:ext cx="3471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批准范围、预算与DCP继续/暂停决定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90132" y="1811655"/>
              <a:ext cx="34086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PDT负责人 / 端到端交付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93180" y="22669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协调依赖、进度、风险、集成与周报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4256" y="3000375"/>
            <a:ext cx="10048494" cy="2066925"/>
            <a:chOff x="524256" y="3000375"/>
            <a:chExt cx="10048494" cy="2066925"/>
          </a:xfrm>
        </p:grpSpPr>
        <p:sp>
          <p:nvSpPr>
            <p:cNvPr id="12" name="Line 12"/>
            <p:cNvSpPr/>
            <p:nvPr/>
          </p:nvSpPr>
          <p:spPr>
            <a:xfrm>
              <a:off x="6057900" y="3000375"/>
              <a:ext cx="9525" cy="2066925"/>
            </a:xfrm>
            <a:custGeom>
              <a:avLst/>
              <a:gdLst/>
              <a:ahLst/>
              <a:cxnLst/>
              <a:rect l="l" t="t" r="r" b="b"/>
              <a:pathLst>
                <a:path w="9525" h="2066925">
                  <a:moveTo>
                    <a:pt x="0" y="0"/>
                  </a:moveTo>
                  <a:lnTo>
                    <a:pt x="0" y="2066925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4256" y="30727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产品与设计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6480" y="3105150"/>
              <a:ext cx="2714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用户研究、PRD、原型与体验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1656" y="30727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临床负责人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6280" y="31051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人群、禁忌、建议与复核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256" y="3844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技术与数据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16480" y="38766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架构、接入、正确性、运行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91656" y="3844290"/>
              <a:ext cx="1174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QA与合规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6280" y="38766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验证证据、安全与准入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256" y="46158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算法负责人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16480" y="46482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标签、训练、评估与版本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1656" y="46158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渠道与运营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6280" y="46482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厂商合作、招募与支持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5780" y="5448300"/>
            <a:ext cx="7302132" cy="604075"/>
            <a:chOff x="525780" y="5448300"/>
            <a:chExt cx="7302132" cy="604075"/>
          </a:xfrm>
        </p:grpSpPr>
        <p:sp>
          <p:nvSpPr>
            <p:cNvPr id="26" name="TextBox 26"/>
            <p:cNvSpPr txBox="1"/>
            <p:nvPr/>
          </p:nvSpPr>
          <p:spPr>
            <a:xfrm>
              <a:off x="525780" y="5448300"/>
              <a:ext cx="66304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建议资源：7–9名全职技术/产品人员，临床复核与合规支持单独配置。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6542" y="5788342"/>
              <a:ext cx="7301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复核工作量＝患者数×每日建议数×单次审核时间，另计异常工单；不以名义顾问代替值守。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528066" y="6392228"/>
              <a:ext cx="3735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 / 资源人数为建议，组织任命尚待落实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071711" cy="947927"/>
            <a:chOff x="518922" y="463868"/>
            <a:chExt cx="6071711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工作分配 · 建议角色，上会具名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0717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关键交付都有主责、协作与验收人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1743075"/>
            <a:ext cx="11125200" cy="3790950"/>
            <a:chOff x="533400" y="1743075"/>
            <a:chExt cx="11125200" cy="3790950"/>
          </a:xfrm>
        </p:grpSpPr>
        <p:sp>
          <p:nvSpPr>
            <p:cNvPr id="5" name="Rectangle 5"/>
            <p:cNvSpPr/>
            <p:nvPr/>
          </p:nvSpPr>
          <p:spPr>
            <a:xfrm>
              <a:off x="533400" y="1743075"/>
              <a:ext cx="111252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6280" y="18859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关键交付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92830" y="188595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12080" y="188595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40980" y="1885950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验收 / 批准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52760" y="1885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计划完成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280" y="2438400"/>
              <a:ext cx="1434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PRD与首期范围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92830" y="24384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120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临床、技术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40980" y="2438400"/>
              <a:ext cx="473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IPMT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05172" y="24384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11-15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33400" y="2762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6280" y="2990850"/>
              <a:ext cx="1263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CGM正确链路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92830" y="299085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2080" y="29908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数据、客户端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0980" y="2990850"/>
              <a:ext cx="292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05172" y="29908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12-20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33400" y="3314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6280" y="35433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画像与模型评估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92830" y="35433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2080" y="35433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临床、后端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40980" y="3543300"/>
              <a:ext cx="932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临床＋QA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05172" y="35433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12-27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" y="3867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6280" y="40957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医生审核闭环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92830" y="409575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12080" y="40957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客户端、临床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4095750"/>
              <a:ext cx="932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临床＋QA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05172" y="40957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12-27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3400" y="44196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46482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机构试点准入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92830" y="46482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2080" y="4648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合规、运营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40980" y="4648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机构授权方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05172" y="46482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12-27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33400" y="4972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6280" y="52006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首批试点启动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92830" y="520065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12080" y="5200650"/>
              <a:ext cx="1007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PDT、临床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40980" y="5200650"/>
              <a:ext cx="1007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PDT＋临床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49865" y="5200650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2027-01-10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33400" y="5524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525780" y="5819775"/>
            <a:ext cx="72241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每项指定一个主责；验收不等于开发者自签，审批权限以机构实际授权为准。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28066" y="6392228"/>
              <a:ext cx="43133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来源：WBS与项目方案v0.2 / 这是分工建议，非已批准的具名记录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152281" cy="947927"/>
            <a:chOff x="518922" y="463868"/>
            <a:chExt cx="6152281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2471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/ IPD计划基线 · 北京时间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1522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12周启动试点，14周完成首轮复盘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2732" y="1930718"/>
            <a:ext cx="2475433" cy="1553527"/>
            <a:chOff x="522732" y="1930718"/>
            <a:chExt cx="2475433" cy="1553527"/>
          </a:xfrm>
        </p:grpSpPr>
        <p:sp>
          <p:nvSpPr>
            <p:cNvPr id="5" name="TextBox 5"/>
            <p:cNvSpPr txBox="1"/>
            <p:nvPr/>
          </p:nvSpPr>
          <p:spPr>
            <a:xfrm>
              <a:off x="526542" y="1930718"/>
              <a:ext cx="2471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W1–2 / 2026-10-19～11-01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2732" y="22879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概念与资源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2748915"/>
              <a:ext cx="2412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DCP1 · 立项与负责人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5780" y="31908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计划累计完成度 10%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32732" y="1930718"/>
            <a:ext cx="2669743" cy="1553527"/>
            <a:chOff x="4332732" y="1930718"/>
            <a:chExt cx="2669743" cy="1553527"/>
          </a:xfrm>
        </p:grpSpPr>
        <p:sp>
          <p:nvSpPr>
            <p:cNvPr id="10" name="TextBox 10"/>
            <p:cNvSpPr txBox="1"/>
            <p:nvPr/>
          </p:nvSpPr>
          <p:spPr>
            <a:xfrm>
              <a:off x="4336542" y="1930718"/>
              <a:ext cx="1943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W3–4 / 11-02～11-15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32732" y="228790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计划与方案冻结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4256" y="2748915"/>
              <a:ext cx="26682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DCP2 · 投入与验收口径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5780" y="31908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计划累计完成度 25%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42732" y="1930718"/>
            <a:ext cx="2298497" cy="1553527"/>
            <a:chOff x="8142732" y="1930718"/>
            <a:chExt cx="2298497" cy="1553527"/>
          </a:xfrm>
        </p:grpSpPr>
        <p:sp>
          <p:nvSpPr>
            <p:cNvPr id="15" name="TextBox 15"/>
            <p:cNvSpPr txBox="1"/>
            <p:nvPr/>
          </p:nvSpPr>
          <p:spPr>
            <a:xfrm>
              <a:off x="8146542" y="1930718"/>
              <a:ext cx="1943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W5–8 / 11-16～12-13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2732" y="22879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开发与集成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44256" y="2748915"/>
              <a:ext cx="229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TR2/3 · 设计与集成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5780" y="31908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计划累计完成度 60%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533400" y="36957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522732" y="4130992"/>
            <a:ext cx="2413711" cy="1553528"/>
            <a:chOff x="522732" y="4130992"/>
            <a:chExt cx="2413711" cy="1553528"/>
          </a:xfrm>
        </p:grpSpPr>
        <p:sp>
          <p:nvSpPr>
            <p:cNvPr id="21" name="TextBox 21"/>
            <p:cNvSpPr txBox="1"/>
            <p:nvPr/>
          </p:nvSpPr>
          <p:spPr>
            <a:xfrm>
              <a:off x="526542" y="4130992"/>
              <a:ext cx="204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W9–10 / 12-14～12-27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2732" y="4488180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验证与准入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256" y="4949190"/>
              <a:ext cx="2412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DCP3 · 批准患者入组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5780" y="539115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计划累计完成度 80%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32732" y="4130992"/>
            <a:ext cx="2686660" cy="1553528"/>
            <a:chOff x="4332732" y="4130992"/>
            <a:chExt cx="2686660" cy="1553528"/>
          </a:xfrm>
        </p:grpSpPr>
        <p:sp>
          <p:nvSpPr>
            <p:cNvPr id="26" name="TextBox 26"/>
            <p:cNvSpPr txBox="1"/>
            <p:nvPr/>
          </p:nvSpPr>
          <p:spPr>
            <a:xfrm>
              <a:off x="4336542" y="4130992"/>
              <a:ext cx="2682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W11–12 / 12-28～2027-01-10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32732" y="44881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首批试点启动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34256" y="49491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受控入组 · 持续监控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35780" y="539115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计划累计完成度 90%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42732" y="4130992"/>
            <a:ext cx="2695346" cy="1553528"/>
            <a:chOff x="8142732" y="4130992"/>
            <a:chExt cx="2695346" cy="1553528"/>
          </a:xfrm>
        </p:grpSpPr>
        <p:sp>
          <p:nvSpPr>
            <p:cNvPr id="31" name="TextBox 31"/>
            <p:cNvSpPr txBox="1"/>
            <p:nvPr/>
          </p:nvSpPr>
          <p:spPr>
            <a:xfrm>
              <a:off x="8146542" y="4130992"/>
              <a:ext cx="2682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W13–14 / 2027-01-11～01-24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2732" y="44881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首轮试点复盘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4256" y="4949190"/>
              <a:ext cx="26938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DCP4 · 扩大/调整/停止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5780" y="5391150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首期计划完成度 100%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26542" y="5902642"/>
            <a:ext cx="68106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按证据过关；时间到不自动进入下一阶段。100%不代表公众上市或临床疗效已证明。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528066" y="6392228"/>
              <a:ext cx="5007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来源：项目方案v0.2 / 等宽节点表示阶段顺序，所有日期和百分比为条件性计划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474562" cy="947927"/>
            <a:chOff x="518922" y="463868"/>
            <a:chExt cx="647456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1895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开发阶段 · W5–8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四周开发，每周交付一个可演示增量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724025"/>
            <a:ext cx="2552700" cy="3209925"/>
            <a:chOff x="533400" y="1724025"/>
            <a:chExt cx="2552700" cy="3209925"/>
          </a:xfrm>
        </p:grpSpPr>
        <p:sp>
          <p:nvSpPr>
            <p:cNvPr id="5" name="Rectangle 5"/>
            <p:cNvSpPr/>
            <p:nvPr/>
          </p:nvSpPr>
          <p:spPr>
            <a:xfrm>
              <a:off x="533400" y="1724025"/>
              <a:ext cx="2552700" cy="3209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724025"/>
              <a:ext cx="25527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2040255"/>
              <a:ext cx="4290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142" y="2492692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11-16～11-22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856" y="3044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数据链路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4380" y="35147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身份、授权、绑定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4380" y="38766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原始与标准数据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45119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演示：真实数据落库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90900" y="1724025"/>
            <a:ext cx="2552700" cy="3209925"/>
            <a:chOff x="3390900" y="1724025"/>
            <a:chExt cx="2552700" cy="3209925"/>
          </a:xfrm>
        </p:grpSpPr>
        <p:sp>
          <p:nvSpPr>
            <p:cNvPr id="14" name="Rectangle 14"/>
            <p:cNvSpPr/>
            <p:nvPr/>
          </p:nvSpPr>
          <p:spPr>
            <a:xfrm>
              <a:off x="3390900" y="1724025"/>
              <a:ext cx="2552700" cy="3209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90900" y="1724025"/>
              <a:ext cx="25527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08832" y="2040255"/>
              <a:ext cx="4290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2642" y="2492692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11-23～11-29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0356" y="3044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曲线与画像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1880" y="35147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质量、统计、风险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1880" y="38766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最小医生工作台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12642" y="45119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演示：可查可解释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724025"/>
            <a:ext cx="2552700" cy="3209925"/>
            <a:chOff x="6248400" y="1724025"/>
            <a:chExt cx="2552700" cy="3209925"/>
          </a:xfrm>
        </p:grpSpPr>
        <p:sp>
          <p:nvSpPr>
            <p:cNvPr id="23" name="Rectangle 23"/>
            <p:cNvSpPr/>
            <p:nvPr/>
          </p:nvSpPr>
          <p:spPr>
            <a:xfrm>
              <a:off x="6248400" y="1724025"/>
              <a:ext cx="2552700" cy="3209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1724025"/>
              <a:ext cx="25527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6332" y="2040255"/>
              <a:ext cx="4290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0142" y="2492692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11-30～12-06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856" y="3044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建议闭环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9380" y="35147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证据、审核、投递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9380" y="38766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反馈与离线评估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0142" y="4511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演示：先审后发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105900" y="1724025"/>
            <a:ext cx="2552700" cy="3209925"/>
            <a:chOff x="9105900" y="1724025"/>
            <a:chExt cx="2552700" cy="3209925"/>
          </a:xfrm>
        </p:grpSpPr>
        <p:sp>
          <p:nvSpPr>
            <p:cNvPr id="32" name="Rectangle 32"/>
            <p:cNvSpPr/>
            <p:nvPr/>
          </p:nvSpPr>
          <p:spPr>
            <a:xfrm>
              <a:off x="9105900" y="1724025"/>
              <a:ext cx="2552700" cy="3209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23832" y="2040255"/>
              <a:ext cx="4290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7642" y="2492692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12-07～12-13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5356" y="3044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集成与回退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26880" y="35147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审计、降级、恢复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26880" y="3876675"/>
              <a:ext cx="1539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影子模型/智能体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27642" y="45119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演示：端到端闭环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5780" y="5372100"/>
            <a:ext cx="7027316" cy="661225"/>
            <a:chOff x="525780" y="5372100"/>
            <a:chExt cx="7027316" cy="661225"/>
          </a:xfrm>
        </p:grpSpPr>
        <p:sp>
          <p:nvSpPr>
            <p:cNvPr id="40" name="TextBox 40"/>
            <p:cNvSpPr txBox="1"/>
            <p:nvPr/>
          </p:nvSpPr>
          <p:spPr>
            <a:xfrm>
              <a:off x="525780" y="5372100"/>
              <a:ext cx="7027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并行推进：数据合格后启动训练；临床规则、机构准入从W1持续推进。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6542" y="5769292"/>
              <a:ext cx="6692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周交付是演示增量，最终验收整改可持续至12-27；不串行等待整个模型阶段结束。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28066" y="6392228"/>
              <a:ext cx="3198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 / 日期为拟议2026年开发安排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5668861" cy="947927"/>
            <a:chOff x="518922" y="463868"/>
            <a:chExt cx="5668861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2625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DCP3准入 · 拟议验收目标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56688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入组前，同时通过四类验收门槛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2732" y="1849755"/>
            <a:ext cx="3654552" cy="1526096"/>
            <a:chOff x="522732" y="1849755"/>
            <a:chExt cx="3654552" cy="1526096"/>
          </a:xfrm>
        </p:grpSpPr>
        <p:sp>
          <p:nvSpPr>
            <p:cNvPr id="5" name="TextBox 5"/>
            <p:cNvSpPr txBox="1"/>
            <p:nvPr/>
          </p:nvSpPr>
          <p:spPr>
            <a:xfrm>
              <a:off x="522732" y="1849755"/>
              <a:ext cx="21734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数据与接入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23107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真实授权、时间单位、去重与恢复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5780" y="2762250"/>
              <a:ext cx="2579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可获取事件正确落库率 ≥99%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6542" y="31118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分母为厂商可回溯事件，不是佩戴覆盖率。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90132" y="1849755"/>
            <a:ext cx="3412236" cy="1526096"/>
            <a:chOff x="6390132" y="1849755"/>
            <a:chExt cx="3412236" cy="1526096"/>
          </a:xfrm>
        </p:grpSpPr>
        <p:sp>
          <p:nvSpPr>
            <p:cNvPr id="10" name="TextBox 10"/>
            <p:cNvSpPr txBox="1"/>
            <p:nvPr/>
          </p:nvSpPr>
          <p:spPr>
            <a:xfrm>
              <a:off x="6390132" y="1849755"/>
              <a:ext cx="21734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模型与解释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91656" y="231076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独立评估、证据版本、失效降级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93180" y="27622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未达门槛的模型不进入患者流程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93942" y="31118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高风险数字与动作须确定性校验。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533400" y="36195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522732" y="3945255"/>
            <a:ext cx="3412236" cy="1478470"/>
            <a:chOff x="522732" y="3945255"/>
            <a:chExt cx="3412236" cy="1478470"/>
          </a:xfrm>
        </p:grpSpPr>
        <p:sp>
          <p:nvSpPr>
            <p:cNvPr id="16" name="TextBox 16"/>
            <p:cNvSpPr txBox="1"/>
            <p:nvPr/>
          </p:nvSpPr>
          <p:spPr>
            <a:xfrm>
              <a:off x="522732" y="3945255"/>
              <a:ext cx="27670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/ 技术质量与安全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256" y="440626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权限隔离、关键场景、恢复演练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780" y="4857750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关键缺陷为0；标准化p95≤60秒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6542" y="515969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仅指平台接收后处理，厂商延迟另列。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90132" y="3945255"/>
            <a:ext cx="3412236" cy="1478470"/>
            <a:chOff x="6390132" y="3945255"/>
            <a:chExt cx="3412236" cy="1478470"/>
          </a:xfrm>
        </p:grpSpPr>
        <p:sp>
          <p:nvSpPr>
            <p:cNvPr id="21" name="TextBox 21"/>
            <p:cNvSpPr txBox="1"/>
            <p:nvPr/>
          </p:nvSpPr>
          <p:spPr>
            <a:xfrm>
              <a:off x="6390132" y="3945255"/>
              <a:ext cx="27670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临床与机构准入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1656" y="440626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适用审批、复核容量、异常责任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3180" y="4857750"/>
              <a:ext cx="2714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机构服务时段与处置SLA明确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3942" y="515969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医疗机构参与不自动替代监管判断。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5780" y="5800725"/>
            <a:ext cx="6366434" cy="293370"/>
            <a:chOff x="525780" y="5800725"/>
            <a:chExt cx="6366434" cy="293370"/>
          </a:xfrm>
        </p:grpSpPr>
        <p:sp>
          <p:nvSpPr>
            <p:cNvPr id="26" name="TextBox 26"/>
            <p:cNvSpPr txBox="1"/>
            <p:nvPr/>
          </p:nvSpPr>
          <p:spPr>
            <a:xfrm>
              <a:off x="525780" y="5800725"/>
              <a:ext cx="6366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关键缺陷或适用准入未关闭 → 暂停入组；验收指标在DCP2冻结。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528066" y="6392228"/>
              <a:ext cx="4017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 / 以上是拟议门槛，尚未取得实际测试结果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7280262" cy="947927"/>
            <a:chOff x="518922" y="463868"/>
            <a:chExt cx="728026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完成度管理 · 实际产品基线0%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72802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按交付证据计算完成度，不凭感觉报进度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2732" y="1849755"/>
            <a:ext cx="6297168" cy="4164520"/>
            <a:chOff x="522732" y="1849755"/>
            <a:chExt cx="6297168" cy="4164520"/>
          </a:xfrm>
        </p:grpSpPr>
        <p:sp>
          <p:nvSpPr>
            <p:cNvPr id="5" name="TextBox 5"/>
            <p:cNvSpPr txBox="1"/>
            <p:nvPr/>
          </p:nvSpPr>
          <p:spPr>
            <a:xfrm>
              <a:off x="522732" y="18497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实际完成度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2329815"/>
              <a:ext cx="40286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＝各交付物「权重×证据成熟度」之和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28575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4256" y="3053715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成熟度按验收证据推进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5780" y="3514725"/>
              <a:ext cx="3558540" cy="6648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未启动 → 0.25 方案评审 → 0.5 模块验收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0.75 集成通过 → 1 目标场景验收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6542" y="4435792"/>
              <a:ext cx="4497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纯文档采用专属验收状态；20项WBS权重合计100%。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256" y="493014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计划曲线与实际进度分开记录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780" y="53816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每周更新：负责人、证据、阻塞与下一步。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6542" y="5750242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100%仅代表首期试点范围完成。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467600" y="1733550"/>
            <a:ext cx="4191000" cy="4019550"/>
            <a:chOff x="7467600" y="1733550"/>
            <a:chExt cx="4191000" cy="4019550"/>
          </a:xfrm>
        </p:grpSpPr>
        <p:sp>
          <p:nvSpPr>
            <p:cNvPr id="15" name="Rectangle 15"/>
            <p:cNvSpPr/>
            <p:nvPr/>
          </p:nvSpPr>
          <p:spPr>
            <a:xfrm>
              <a:off x="7467600" y="1733550"/>
              <a:ext cx="41910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88580" y="18764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18520" y="1876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8580" y="2428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需求与立项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48810" y="24288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467600" y="27527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88580" y="29241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架构、治理与验证计划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48810" y="29241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467600" y="32480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88580" y="34194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数据采集与质量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48810" y="34194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467600" y="37433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88580" y="3914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决策、画像与解释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48810" y="39147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467600" y="4238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88580" y="44100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用户端与干预闭环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48810" y="44100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467600" y="47339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8580" y="49053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质量、安全与运行验证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48810" y="49053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467600" y="5229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88580" y="54006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试点运营与复盘交接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59871" y="5400675"/>
              <a:ext cx="2777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467600" y="574357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528066" y="6392228"/>
              <a:ext cx="4180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来源：项目方案v0.2、20项WBS / 权重与成熟度为拟议管理口径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7280262" cy="947927"/>
            <a:chOff x="518922" y="463868"/>
            <a:chExt cx="728026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依赖与风险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72802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先关闭外部依赖，保证开发后能进入试点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743075"/>
            <a:ext cx="11125200" cy="3638550"/>
            <a:chOff x="533400" y="1743075"/>
            <a:chExt cx="11125200" cy="3638550"/>
          </a:xfrm>
        </p:grpSpPr>
        <p:sp>
          <p:nvSpPr>
            <p:cNvPr id="5" name="Rectangle 5"/>
            <p:cNvSpPr/>
            <p:nvPr/>
          </p:nvSpPr>
          <p:spPr>
            <a:xfrm>
              <a:off x="533400" y="1743075"/>
              <a:ext cx="111252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6280" y="1885950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 / 风险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183380" y="18859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主责角色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7980" y="188595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应对与决策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6280" y="2505075"/>
              <a:ext cx="2445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CGM官方接口或授权缺失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83380" y="25050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技术＋渠道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97980" y="2505075"/>
              <a:ext cx="3066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DCP1/2阻塞；优先验证合法接入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33400" y="28956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6280" y="3124200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训练数据不足或许可不明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3380" y="3124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算法＋数据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7980" y="312420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审定基线先行，模型保持影子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33400" y="35147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6280" y="374332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用药 / 病史等背景缺失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3380" y="37433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临床＋产品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97980" y="37433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限制模式、减少个性化、人工复核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33400" y="4133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6280" y="43624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机构与适用准入未完成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3380" y="4362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临床＋合规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97980" y="43624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暂停患者入组，不以软件测试替代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33400" y="47529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6280" y="49815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团队或医生复核容量不足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3380" y="4981575"/>
              <a:ext cx="1007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PDT负责人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7980" y="49815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推迟高级功能或重排试点时间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" y="5372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24256" y="5758815"/>
            <a:ext cx="6107369" cy="352044"/>
            <a:chOff x="524256" y="5758815"/>
            <a:chExt cx="6107369" cy="352044"/>
          </a:xfrm>
        </p:grpSpPr>
        <p:sp>
          <p:nvSpPr>
            <p:cNvPr id="30" name="TextBox 30"/>
            <p:cNvSpPr txBox="1"/>
            <p:nvPr/>
          </p:nvSpPr>
          <p:spPr>
            <a:xfrm>
              <a:off x="524256" y="5758815"/>
              <a:ext cx="61073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安全事件及时升级PDT与临床负责人，不等待周会。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28066" y="6392228"/>
              <a:ext cx="38766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 / 不用模拟数据掩盖真实接入或准入阻塞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4863160" cy="947927"/>
            <a:chOff x="518922" y="463868"/>
            <a:chExt cx="4863160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3143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W1–2立即行动 · 2026-10-19起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486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前两周，落实六项启动交付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1743075"/>
            <a:ext cx="11125200" cy="3790950"/>
            <a:chOff x="533400" y="1743075"/>
            <a:chExt cx="11125200" cy="3790950"/>
          </a:xfrm>
        </p:grpSpPr>
        <p:sp>
          <p:nvSpPr>
            <p:cNvPr id="5" name="Rectangle 5"/>
            <p:cNvSpPr/>
            <p:nvPr/>
          </p:nvSpPr>
          <p:spPr>
            <a:xfrm>
              <a:off x="533400" y="1743075"/>
              <a:ext cx="111252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6280" y="1885950"/>
              <a:ext cx="1583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行动 / 对应WBS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69130" y="18859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负责角色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907530" y="1885950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可核验的交付证据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52760" y="1885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计划截止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6280" y="2438400"/>
              <a:ext cx="2319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团队、预算、机构 / C02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9130" y="2438400"/>
              <a:ext cx="1007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PDT负责人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07530" y="24384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具名负责人、投入与承诺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5172" y="24384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11-01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33400" y="2762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6280" y="2990850"/>
              <a:ext cx="2532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首期人群、预期用途 / C01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9130" y="29908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产品＋临床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07530" y="29908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首期范围与路径草案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05172" y="29908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11-01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" y="3314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6280" y="3543300"/>
              <a:ext cx="2500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CGM与训练数据路径 / C03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69130" y="35433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数据＋技术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07530" y="35433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接口、许可与交付约定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05172" y="35433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11-01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33400" y="3867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6280" y="40957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用户主路径与原型草案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69130" y="4095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产品设计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07530" y="40957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患者与医生关键流程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05172" y="40957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11-01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33400" y="44196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6280" y="46482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风险问卷与建议边界草案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69130" y="4648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临床＋产品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07530" y="46482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风险信息与限制模式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05172" y="46482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11-01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3400" y="4972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2006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初版数据契约与沙箱样本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69130" y="52006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技术＋数据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07530" y="52006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字段字典与样本回放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05172" y="52006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11-01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33400" y="5524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25780" y="5810250"/>
            <a:ext cx="6704076" cy="293370"/>
            <a:chOff x="525780" y="5810250"/>
            <a:chExt cx="6704076" cy="293370"/>
          </a:xfrm>
        </p:grpSpPr>
        <p:sp>
          <p:nvSpPr>
            <p:cNvPr id="41" name="TextBox 41"/>
            <p:cNvSpPr txBox="1"/>
            <p:nvPr/>
          </p:nvSpPr>
          <p:spPr>
            <a:xfrm>
              <a:off x="525780" y="5810250"/>
              <a:ext cx="6704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11-01是DCP1启动证据；后续PRD、契约和验收方案在11-15正式冻结。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28066" y="6392228"/>
              <a:ext cx="38938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来源：前两周行动与WBS / 岗位待具名，日期为条件性计划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63868"/>
            <a:ext cx="6474562" cy="947927"/>
            <a:chOff x="518922" y="463868"/>
            <a:chExt cx="6474562" cy="9479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63868"/>
              <a:ext cx="205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受控试点与运行节奏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85439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小批试点先验证流程，再按证据扩大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724025"/>
            <a:ext cx="5448300" cy="3200400"/>
            <a:chOff x="533400" y="1724025"/>
            <a:chExt cx="5448300" cy="3200400"/>
          </a:xfrm>
        </p:grpSpPr>
        <p:sp>
          <p:nvSpPr>
            <p:cNvPr id="5" name="Rectangle 5"/>
            <p:cNvSpPr/>
            <p:nvPr/>
          </p:nvSpPr>
          <p:spPr>
            <a:xfrm>
              <a:off x="533400" y="1724025"/>
              <a:ext cx="5448300" cy="3200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1332" y="1964055"/>
              <a:ext cx="47558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首批 10–20人 → 条件满足后40–80人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4380" y="24669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人员、授权、适用准入与复核容量到位后入组。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2929890"/>
              <a:ext cx="35439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观察约4周；后入组随访可延长。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3448050"/>
              <a:ext cx="3063240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记录接入、安全、理解与执行反馈，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同时记录模型及人工复核成本。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142" y="42929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人数为容量假设，非疗效研究样本量。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04432" y="1964055"/>
            <a:ext cx="3654552" cy="2802446"/>
            <a:chOff x="6504432" y="1964055"/>
            <a:chExt cx="3654552" cy="2802446"/>
          </a:xfrm>
        </p:grpSpPr>
        <p:sp>
          <p:nvSpPr>
            <p:cNvPr id="12" name="TextBox 12"/>
            <p:cNvSpPr txBox="1"/>
            <p:nvPr/>
          </p:nvSpPr>
          <p:spPr>
            <a:xfrm>
              <a:off x="6504432" y="1964055"/>
              <a:ext cx="35833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每周看证据，每两周看集成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05956" y="25393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周会：交付、偏差、阻塞、下一步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05956" y="29870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双周：演示真实端到端增量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05956" y="3434715"/>
              <a:ext cx="30010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DCP：形成正式决议与条件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7480" y="40671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65B13"/>
                  </a:solidFill>
                  <a:latin typeface="+mn-lt"/>
                  <a:ea typeface="+mn-ea"/>
                  <a:cs typeface="+mn-cs"/>
                </a:rPr>
                <a:t>异常及时升级，不等待周会。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08242" y="4502468"/>
              <a:ext cx="2423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主责任务：Q03、O01、O02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4256" y="5286375"/>
            <a:ext cx="11134344" cy="785050"/>
            <a:chOff x="524256" y="5286375"/>
            <a:chExt cx="11134344" cy="785050"/>
          </a:xfrm>
        </p:grpSpPr>
        <p:sp>
          <p:nvSpPr>
            <p:cNvPr id="19" name="Line 19"/>
            <p:cNvSpPr/>
            <p:nvPr/>
          </p:nvSpPr>
          <p:spPr>
            <a:xfrm>
              <a:off x="533400" y="5286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4256" y="5425440"/>
              <a:ext cx="6887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首轮验证运行、体验和服务能力；健康变化仅作探索性记录。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6542" y="580739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短期前后变化不证明干预疗效，临床有效性研究另设设计与样本量。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528066" y="6392228"/>
              <a:ext cx="38766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来源：项目方案v0.2 / 试点人数、时间和扩大路径为拟议计划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597218"/>
            <a:ext cx="6198870" cy="2454592"/>
            <a:chOff x="514350" y="597218"/>
            <a:chExt cx="6198870" cy="245459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972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会议输出 / 把方案转成执行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33400" y="1219200"/>
              <a:ext cx="6096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4350" y="1575435"/>
              <a:ext cx="6198870" cy="1476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175"/>
                </a:lnSpc>
              </a:pP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今天落实负责人，</a:t>
              </a:r>
              <a:br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本周启动四条关键路径。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4256" y="3333750"/>
            <a:ext cx="11134344" cy="1004125"/>
            <a:chOff x="524256" y="3333750"/>
            <a:chExt cx="11134344" cy="1004125"/>
          </a:xfrm>
        </p:grpSpPr>
        <p:sp>
          <p:nvSpPr>
            <p:cNvPr id="6" name="Line 6"/>
            <p:cNvSpPr/>
            <p:nvPr/>
          </p:nvSpPr>
          <p:spPr>
            <a:xfrm>
              <a:off x="533400" y="3333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4256" y="36252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团队与预算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81756" y="36252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合作机构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39256" y="3625215"/>
              <a:ext cx="10532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CGM接口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96756" y="36252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训练数据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6542" y="40738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明确投入与具名岗位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84042" y="40738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临床与准入责任人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41542" y="40738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合法接入与沙箱验证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9042" y="40738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交付日期与用途许可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4256" y="4968240"/>
            <a:ext cx="7891272" cy="1065085"/>
            <a:chOff x="524256" y="4968240"/>
            <a:chExt cx="7891272" cy="1065085"/>
          </a:xfrm>
        </p:grpSpPr>
        <p:sp>
          <p:nvSpPr>
            <p:cNvPr id="16" name="TextBox 16"/>
            <p:cNvSpPr txBox="1"/>
            <p:nvPr/>
          </p:nvSpPr>
          <p:spPr>
            <a:xfrm>
              <a:off x="524256" y="4968240"/>
              <a:ext cx="7891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离会前：具名岗位表 ＋ 首期范围 ＋ 20项WBS认领 ＋ 风险与待决清单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5780" y="5410200"/>
              <a:ext cx="6480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11-01 DCP1 · 11-15 DCP2 · 2027-01-10前启动试点（条件性目标）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6542" y="5769292"/>
              <a:ext cx="600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用交付证据更新进度；GitHub归档与任务表持续维护，实际开发从0%起。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8066" y="6392228"/>
            <a:ext cx="11135868" cy="205359"/>
            <a:chOff x="528066" y="6392228"/>
            <a:chExt cx="111358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528066" y="6392228"/>
              <a:ext cx="2796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AI＋代谢管理 / 内部启动会 / 2026-10-13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79740" y="63922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i-metabolic-kickoff">
  <a:themeElements>
    <a:clrScheme name="ai-metabolic-kickoff">
      <a:dk1>
        <a:srgbClr val="183247"/>
      </a:dk1>
      <a:lt1>
        <a:srgbClr val="F4F7FA"/>
      </a:lt1>
      <a:dk2>
        <a:srgbClr val="1F497D"/>
      </a:dk2>
      <a:lt2>
        <a:srgbClr val="FFFFFF"/>
      </a:lt2>
      <a:accent1>
        <a:srgbClr val="132E43"/>
      </a:accent1>
      <a:accent2>
        <a:srgbClr val="087F8C"/>
      </a:accent2>
      <a:accent3>
        <a:srgbClr val="D78B42"/>
      </a:accent3>
      <a:accent4>
        <a:srgbClr val="132E43"/>
      </a:accent4>
      <a:accent5>
        <a:srgbClr val="5A6E7D"/>
      </a:accent5>
      <a:accent6>
        <a:srgbClr val="D9E3EA"/>
      </a:accent6>
      <a:hlink>
        <a:srgbClr val="087F8C"/>
      </a:hlink>
      <a:folHlink>
        <a:srgbClr val="D78B42"/>
      </a:folHlink>
    </a:clrScheme>
    <a:fontScheme name="ai-metabolic-kickoff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metabolic-kickof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-metabolic-kickoff">
  <a:themeElements>
    <a:clrScheme name="ai-metabolic-kickoff">
      <a:dk1>
        <a:srgbClr val="183247"/>
      </a:dk1>
      <a:lt1>
        <a:srgbClr val="F4F7FA"/>
      </a:lt1>
      <a:dk2>
        <a:srgbClr val="1F497D"/>
      </a:dk2>
      <a:lt2>
        <a:srgbClr val="FFFFFF"/>
      </a:lt2>
      <a:accent1>
        <a:srgbClr val="132E43"/>
      </a:accent1>
      <a:accent2>
        <a:srgbClr val="087F8C"/>
      </a:accent2>
      <a:accent3>
        <a:srgbClr val="D78B42"/>
      </a:accent3>
      <a:accent4>
        <a:srgbClr val="132E43"/>
      </a:accent4>
      <a:accent5>
        <a:srgbClr val="5A6E7D"/>
      </a:accent5>
      <a:accent6>
        <a:srgbClr val="D9E3EA"/>
      </a:accent6>
      <a:hlink>
        <a:srgbClr val="087F8C"/>
      </a:hlink>
      <a:folHlink>
        <a:srgbClr val="D78B42"/>
      </a:folHlink>
    </a:clrScheme>
    <a:fontScheme name="ai-metabolic-kickoff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metabolic-kickof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2026-10-13T04:32:35Z</dcterms:created>
  <dcterms:modified xsi:type="dcterms:W3CDTF">2026-10-13T04:32:35Z</dcterms:modified>
  <cp:category/>
  <cp:contentStatus/>
</cp:coreProperties>
</file>